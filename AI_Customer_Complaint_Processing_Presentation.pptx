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457200"/>
          </a:xfrm>
          <a:prstGeom prst="rect">
            <a:avLst/>
          </a:prstGeom>
          <a:solidFill>
            <a:srgbClr val="2B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5669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038"/>
                </a:solidFill>
              </a:rPr>
              <a:t>NEXA SUPPORT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6692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DCAD6"/>
                </a:solidFill>
              </a:rPr>
              <a:t>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solidFill>
            <a:srgbClr val="2B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6675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Complaint Processing</a:t>
            </a:r>
            <a:br/>
            <a:r>
              <a:t>Workflow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End-to-end AI orchestration for file ingestion, extraction, email generation, and batch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00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2B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C2038"/>
                </a:solidFill>
              </a:rPr>
              <a:t>4</a:t>
            </a:r>
          </a:p>
          <a:p>
            <a:pPr algn="ctr"/>
            <a:r>
              <a:rPr sz="1200" b="0">
                <a:solidFill>
                  <a:srgbClr val="263446"/>
                </a:solidFill>
              </a:rPr>
              <a:t>documents processed</a:t>
            </a:r>
          </a:p>
          <a:p>
            <a:pPr algn="ctr"/>
            <a:r>
              <a:rPr sz="2600" b="1">
                <a:solidFill>
                  <a:srgbClr val="0C2038"/>
                </a:solidFill>
              </a:rPr>
              <a:t>3</a:t>
            </a:r>
          </a:p>
          <a:p>
            <a:pPr algn="ctr"/>
            <a:r>
              <a:rPr sz="1200" b="0">
                <a:solidFill>
                  <a:srgbClr val="263446"/>
                </a:solidFill>
              </a:rPr>
              <a:t>pipeline stages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28232"/>
            <a:ext cx="10881360" cy="36576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1707E"/>
                </a:solidFill>
              </a:rPr>
              <a:t>Architecture review | GenAI workflow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C203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457200"/>
          </a:xfrm>
          <a:prstGeom prst="rect">
            <a:avLst/>
          </a:prstGeom>
          <a:solidFill>
            <a:srgbClr val="2B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5669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038"/>
                </a:solidFill>
              </a:rPr>
              <a:t>NEXA SUPPORT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6692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DCAD6"/>
                </a:solidFill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2038"/>
                </a:solidFill>
              </a:rP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645920" cy="1005840"/>
          </a:xfrm>
          <a:prstGeom prst="roundRect">
            <a:avLst/>
          </a:prstGeom>
          <a:solidFill>
            <a:srgbClr val="1D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 Folder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011680"/>
            <a:ext cx="1737360" cy="1005840"/>
          </a:xfrm>
          <a:prstGeom prst="roundRect">
            <a:avLst/>
          </a:prstGeom>
          <a:solidFill>
            <a:srgbClr val="2B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Extractor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011680"/>
            <a:ext cx="1828800" cy="1005840"/>
          </a:xfrm>
          <a:prstGeom prst="roundRect">
            <a:avLst/>
          </a:prstGeom>
          <a:solidFill>
            <a:srgbClr val="745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LLM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011680"/>
            <a:ext cx="1645920" cy="1005840"/>
          </a:xfrm>
          <a:prstGeom prst="roundRect">
            <a:avLst/>
          </a:prstGeom>
          <a:solidFill>
            <a:srgbClr val="1EB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Email 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011680"/>
            <a:ext cx="1645920" cy="1005840"/>
          </a:xfrm>
          <a:prstGeom prst="roundRect">
            <a:avLst/>
          </a:prstGeom>
          <a:solidFill>
            <a:srgbClr val="F6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C2038"/>
                </a:solidFill>
              </a:rPr>
              <a:t>Case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749039"/>
            <a:ext cx="1920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2B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C2038"/>
                </a:solidFill>
              </a:rPr>
              <a:t>Structured 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749039"/>
            <a:ext cx="1737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20A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C2038"/>
                </a:solidFill>
              </a:rPr>
              <a:t>Report 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657600"/>
            <a:ext cx="2834640" cy="91440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Dashboard &amp; Analytics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86000" y="2468880"/>
            <a:ext cx="365759" cy="320040"/>
          </a:xfrm>
          <a:prstGeom prst="rightArrow">
            <a:avLst/>
          </a:prstGeom>
          <a:solidFill>
            <a:srgbClr val="1D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389120" y="2468880"/>
            <a:ext cx="548640" cy="320040"/>
          </a:xfrm>
          <a:prstGeom prst="rightArrow">
            <a:avLst/>
          </a:prstGeom>
          <a:solidFill>
            <a:srgbClr val="1D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766560" y="2468880"/>
            <a:ext cx="640079" cy="320040"/>
          </a:xfrm>
          <a:prstGeom prst="rightArrow">
            <a:avLst/>
          </a:prstGeom>
          <a:solidFill>
            <a:srgbClr val="1D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052560" y="2468880"/>
            <a:ext cx="731519" cy="320040"/>
          </a:xfrm>
          <a:prstGeom prst="rightArrow">
            <a:avLst/>
          </a:prstGeom>
          <a:solidFill>
            <a:srgbClr val="1D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3566160" y="3017520"/>
            <a:ext cx="0" cy="320040"/>
          </a:xfrm>
          <a:prstGeom prst="rightArrow">
            <a:avLst/>
          </a:prstGeom>
          <a:solidFill>
            <a:srgbClr val="1D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5760720" y="3017520"/>
            <a:ext cx="0" cy="320040"/>
          </a:xfrm>
          <a:prstGeom prst="rightArrow">
            <a:avLst/>
          </a:prstGeom>
          <a:solidFill>
            <a:srgbClr val="1D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686800" y="3017520"/>
            <a:ext cx="0" cy="320040"/>
          </a:xfrm>
          <a:prstGeom prst="rightArrow">
            <a:avLst/>
          </a:prstGeom>
          <a:solidFill>
            <a:srgbClr val="1D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6428232"/>
            <a:ext cx="10881360" cy="36576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1707E"/>
                </a:solidFill>
              </a:rPr>
              <a:t>Architecture review | GenAI workflow 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C203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457200"/>
          </a:xfrm>
          <a:prstGeom prst="rect">
            <a:avLst/>
          </a:prstGeom>
          <a:solidFill>
            <a:srgbClr val="2B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5669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038"/>
                </a:solidFill>
              </a:rPr>
              <a:t>NEXA SUPPORT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6692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DCAD6"/>
                </a:solidFill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2038"/>
                </a:solidFill>
              </a:rPr>
              <a:t>Implementation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669280" cy="3749039"/>
          </a:xfrm>
          <a:prstGeom prst="rect">
            <a:avLst/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63446"/>
                </a:solidFill>
              </a:rPr>
              <a:t>Modular workflow orchestration separates ingestion, extraction, and generation stages.</a:t>
            </a:r>
          </a:p>
          <a:p>
            <a:r>
              <a:rPr sz="1800">
                <a:solidFill>
                  <a:srgbClr val="263446"/>
                </a:solidFill>
              </a:rPr>
              <a:t>Pydantic validation ensures structured output integrity before downstream processing.</a:t>
            </a:r>
          </a:p>
          <a:p>
            <a:r>
              <a:rPr sz="1800">
                <a:solidFill>
                  <a:srgbClr val="263446"/>
                </a:solidFill>
              </a:rPr>
              <a:t>Batch execution allows scalable processing across multiple complaint documents.</a:t>
            </a:r>
          </a:p>
          <a:p>
            <a:r>
              <a:rPr sz="1800">
                <a:solidFill>
                  <a:srgbClr val="263446"/>
                </a:solidFill>
              </a:rPr>
              <a:t>Dashboard and CSV outputs support monitoring, QA, and operational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920240"/>
            <a:ext cx="4114800" cy="2468880"/>
          </a:xfrm>
          <a:prstGeom prst="round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Key benefit</a:t>
            </a:r>
          </a:p>
          <a:p>
            <a:r>
              <a:rPr sz="1500">
                <a:solidFill>
                  <a:srgbClr val="FFFFFF"/>
                </a:solidFill>
              </a:rPr>
              <a:t>Operational consistency</a:t>
            </a:r>
          </a:p>
          <a:p>
            <a:r>
              <a:rPr sz="1500">
                <a:solidFill>
                  <a:srgbClr val="FFFFFF"/>
                </a:solidFill>
              </a:rPr>
              <a:t>Lower manual effort</a:t>
            </a:r>
          </a:p>
          <a:p>
            <a:r>
              <a:rPr sz="1500">
                <a:solidFill>
                  <a:srgbClr val="FFFFFF"/>
                </a:solidFill>
              </a:rPr>
              <a:t>Improved traceability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28232"/>
            <a:ext cx="10881360" cy="36576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1707E"/>
                </a:solidFill>
              </a:rPr>
              <a:t>Architecture review | GenAI workflow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C203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457200"/>
          </a:xfrm>
          <a:prstGeom prst="rect">
            <a:avLst/>
          </a:prstGeom>
          <a:solidFill>
            <a:srgbClr val="2B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5669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038"/>
                </a:solidFill>
              </a:rPr>
              <a:t>NEXA SUPPORT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6692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DCAD6"/>
                </a:solidFill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2038"/>
                </a:solidFill>
              </a:rP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480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B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C2038"/>
                </a:solidFill>
              </a:rPr>
              <a:t>Python: Core application logic and 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4480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B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C2038"/>
                </a:solidFill>
              </a:rPr>
              <a:t>LangChain: LLM application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4480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B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C2038"/>
                </a:solidFill>
              </a:rPr>
              <a:t>OpenAI / Google GenAI: Structured extraction and draft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383280"/>
            <a:ext cx="4480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B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C2038"/>
                </a:solidFill>
              </a:rPr>
              <a:t>Pydantic: Schema validation and structured outputs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4480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B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C2038"/>
                </a:solidFill>
              </a:rPr>
              <a:t>Streamlit: Live dashboard and process visibility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5120640"/>
            <a:ext cx="4480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B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C2038"/>
                </a:solidFill>
              </a:rPr>
              <a:t>PyPDF2 / python-docx: Document parsing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28232"/>
            <a:ext cx="10881360" cy="36576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1707E"/>
                </a:solidFill>
              </a:rPr>
              <a:t>Architecture review | GenAI workflow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C203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457200"/>
          </a:xfrm>
          <a:prstGeom prst="rect">
            <a:avLst/>
          </a:prstGeom>
          <a:solidFill>
            <a:srgbClr val="2B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5669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038"/>
                </a:solidFill>
              </a:rPr>
              <a:t>NEXA SUPPORT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6692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DCAD6"/>
                </a:solidFill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675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2038"/>
                </a:solidFill>
              </a:rPr>
              <a:t>Engineering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745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C2038"/>
                </a:solidFill>
              </a:rPr>
              <a:t>Batch processing</a:t>
            </a:r>
          </a:p>
          <a:p>
            <a:r>
              <a:rPr sz="1000">
                <a:solidFill>
                  <a:srgbClr val="263446"/>
                </a:solidFill>
              </a:rPr>
              <a:t>Multiple complaint files can be processed in parallel.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4389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745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C2038"/>
                </a:solidFill>
              </a:rPr>
              <a:t>Modular components</a:t>
            </a:r>
          </a:p>
          <a:p>
            <a:r>
              <a:rPr sz="1000">
                <a:solidFill>
                  <a:srgbClr val="263446"/>
                </a:solidFill>
              </a:rPr>
              <a:t>Each stage is separated for easier testing and maintenance.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4389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745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C2038"/>
                </a:solidFill>
              </a:rPr>
              <a:t>Output generation</a:t>
            </a:r>
          </a:p>
          <a:p>
            <a:r>
              <a:rPr sz="1000">
                <a:solidFill>
                  <a:srgbClr val="263446"/>
                </a:solidFill>
              </a:rPr>
              <a:t>Artifacts are written to JSON, TXT, and CSV for downstream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657600"/>
            <a:ext cx="4389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745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C2038"/>
                </a:solidFill>
              </a:rPr>
              <a:t>Operational monitoring</a:t>
            </a:r>
          </a:p>
          <a:p>
            <a:r>
              <a:rPr sz="1000">
                <a:solidFill>
                  <a:srgbClr val="263446"/>
                </a:solidFill>
              </a:rPr>
              <a:t>Dashboard surfaces progress, errors, and summary analytics.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28232"/>
            <a:ext cx="10881360" cy="36576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1707E"/>
                </a:solidFill>
              </a:rPr>
              <a:t>Architecture review | GenAI workflow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C203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457200"/>
          </a:xfrm>
          <a:prstGeom prst="rect">
            <a:avLst/>
          </a:prstGeom>
          <a:solidFill>
            <a:srgbClr val="2B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5669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038"/>
                </a:solidFill>
              </a:rPr>
              <a:t>NEXA SUPPORT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6692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DCAD6"/>
                </a:solidFill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675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2038"/>
                </a:solidFill>
              </a:rPr>
              <a:t>Engineering takeaway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5669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63446"/>
                </a:solidFill>
              </a:rPr>
              <a:t>The workflow is modular and production-friendly.</a:t>
            </a:r>
          </a:p>
          <a:p>
            <a:r>
              <a:rPr sz="1800">
                <a:solidFill>
                  <a:srgbClr val="263446"/>
                </a:solidFill>
              </a:rPr>
              <a:t>LLM outputs are structured, validated, and operationalized.</a:t>
            </a:r>
          </a:p>
          <a:p>
            <a:r>
              <a:rPr sz="1800">
                <a:solidFill>
                  <a:srgbClr val="263446"/>
                </a:solidFill>
              </a:rPr>
              <a:t>The platform supports a realistic complaint handling lifecycle.</a:t>
            </a:r>
          </a:p>
          <a:p>
            <a:r>
              <a:rPr sz="1800">
                <a:solidFill>
                  <a:srgbClr val="263446"/>
                </a:solidFill>
              </a:rPr>
              <a:t>The architecture is extensible for CRM integration, SLA enforcement, and human-in-the-loop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920240"/>
            <a:ext cx="4114800" cy="2560320"/>
          </a:xfrm>
          <a:prstGeom prst="roundRect">
            <a:avLst/>
          </a:prstGeom>
          <a:solidFill>
            <a:srgbClr val="2B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Result</a:t>
            </a:r>
          </a:p>
          <a:p>
            <a:r>
              <a:rPr sz="1500">
                <a:solidFill>
                  <a:srgbClr val="FFFFFF"/>
                </a:solidFill>
              </a:rPr>
              <a:t>Scalable AI workflow</a:t>
            </a:r>
          </a:p>
          <a:p>
            <a:r>
              <a:rPr sz="1500">
                <a:solidFill>
                  <a:srgbClr val="FFFFFF"/>
                </a:solidFill>
              </a:rPr>
              <a:t>Clean architecture</a:t>
            </a:r>
          </a:p>
          <a:p>
            <a:r>
              <a:rPr sz="1500">
                <a:solidFill>
                  <a:srgbClr val="FFFFFF"/>
                </a:solidFill>
              </a:rPr>
              <a:t>Ready for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28232"/>
            <a:ext cx="10881360" cy="36576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1707E"/>
                </a:solidFill>
              </a:rPr>
              <a:t>Architecture review | GenAI workflow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C2038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